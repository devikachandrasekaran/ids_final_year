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sldIdLst>
    <p:sldId id="375" r:id="rId2"/>
    <p:sldId id="376" r:id="rId3"/>
    <p:sldId id="392" r:id="rId4"/>
    <p:sldId id="388" r:id="rId5"/>
    <p:sldId id="387" r:id="rId6"/>
    <p:sldId id="372" r:id="rId7"/>
    <p:sldId id="395" r:id="rId8"/>
    <p:sldId id="373" r:id="rId9"/>
    <p:sldId id="3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p:nvPr/>
        </p:nvSpPr>
        <p:spPr>
          <a:xfrm>
            <a:off x="1343608" y="2920483"/>
            <a:ext cx="9685176" cy="1707502"/>
          </a:xfrm>
          <a:prstGeom prst="rect">
            <a:avLst/>
          </a:prstGeom>
        </p:spPr>
        <p:txBody>
          <a:bodyPr vert="horz" lIns="91440" tIns="45720" rIns="91440" bIns="45720" rtlCol="0" anchor="ctr">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5600" b="1" dirty="0">
                <a:solidFill>
                  <a:srgbClr val="7030A0"/>
                </a:solidFill>
              </a:rPr>
              <a:t>XAI DEEP LEARNING FRAMEWORK FOR INTELLIGENT NETWORK INTRUSION DETECTION       </a:t>
            </a:r>
          </a:p>
        </p:txBody>
      </p:sp>
      <p:sp>
        <p:nvSpPr>
          <p:cNvPr id="10" name="TextBox 1"/>
          <p:cNvSpPr txBox="1">
            <a:spLocks noChangeArrowheads="1"/>
          </p:cNvSpPr>
          <p:nvPr/>
        </p:nvSpPr>
        <p:spPr bwMode="auto">
          <a:xfrm>
            <a:off x="1093518" y="4814502"/>
            <a:ext cx="3429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US" altLang="en-US" sz="2400" b="1" dirty="0" err="1">
                <a:solidFill>
                  <a:srgbClr val="FF0000"/>
                </a:solidFill>
              </a:rPr>
              <a:t>Ms.Ponnila</a:t>
            </a:r>
            <a:r>
              <a:rPr lang="en-US" altLang="en-US" sz="2400" b="1" dirty="0">
                <a:solidFill>
                  <a:srgbClr val="FF0000"/>
                </a:solidFill>
              </a:rPr>
              <a:t> P</a:t>
            </a:r>
          </a:p>
          <a:p>
            <a:pPr>
              <a:spcBef>
                <a:spcPct val="0"/>
              </a:spcBef>
              <a:buClrTx/>
              <a:buFontTx/>
              <a:buNone/>
            </a:pPr>
            <a:r>
              <a:rPr lang="en-US" altLang="en-US" sz="2400" b="1" dirty="0">
                <a:solidFill>
                  <a:srgbClr val="FF0000"/>
                </a:solidFill>
              </a:rPr>
              <a:t>Assistant Prof.</a:t>
            </a:r>
          </a:p>
          <a:p>
            <a:pPr>
              <a:spcBef>
                <a:spcPct val="0"/>
              </a:spcBef>
              <a:buClrTx/>
              <a:buFontTx/>
              <a:buNone/>
            </a:pPr>
            <a:r>
              <a:rPr lang="en-US" altLang="en-US" sz="2400" b="1" dirty="0">
                <a:solidFill>
                  <a:srgbClr val="FF0000"/>
                </a:solidFill>
              </a:rPr>
              <a:t>Dept AI &amp; DS</a:t>
            </a:r>
            <a:endParaRPr lang="en-IN" altLang="en-US" sz="2400" b="1" dirty="0">
              <a:solidFill>
                <a:srgbClr val="FF0000"/>
              </a:solidFill>
            </a:endParaRPr>
          </a:p>
        </p:txBody>
      </p:sp>
      <p:sp>
        <p:nvSpPr>
          <p:cNvPr id="11" name="TextBox 1"/>
          <p:cNvSpPr txBox="1">
            <a:spLocks noChangeArrowheads="1"/>
          </p:cNvSpPr>
          <p:nvPr/>
        </p:nvSpPr>
        <p:spPr bwMode="auto">
          <a:xfrm>
            <a:off x="7063273" y="4922407"/>
            <a:ext cx="438977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rPr>
              <a:t>DEVIKA C        (221801009)</a:t>
            </a:r>
          </a:p>
          <a:p>
            <a:pPr>
              <a:spcBef>
                <a:spcPct val="0"/>
              </a:spcBef>
              <a:buClrTx/>
              <a:buFontTx/>
              <a:buNone/>
            </a:pPr>
            <a:r>
              <a:rPr lang="en-IN" altLang="en-US" sz="2000" b="1" dirty="0">
                <a:solidFill>
                  <a:srgbClr val="FF0000"/>
                </a:solidFill>
              </a:rPr>
              <a:t>KEERTHIKA P  (221801027)</a:t>
            </a:r>
          </a:p>
          <a:p>
            <a:pPr>
              <a:spcBef>
                <a:spcPct val="0"/>
              </a:spcBef>
              <a:buClrTx/>
              <a:buFontTx/>
              <a:buNone/>
            </a:pPr>
            <a:r>
              <a:rPr lang="en-IN" altLang="en-US" sz="2000" b="1" dirty="0">
                <a:solidFill>
                  <a:srgbClr val="FF0000"/>
                </a:solidFill>
              </a:rPr>
              <a:t>LAVANYA S      (221801028)</a:t>
            </a: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a:t>
            </a:r>
            <a:r>
              <a:rPr lang="en-US" altLang="en-IN" sz="2800" b="1" dirty="0">
                <a:solidFill>
                  <a:srgbClr val="002060"/>
                </a:solidFill>
                <a:latin typeface="Verdana" panose="020B0604030504040204" pitchFamily="34" charset="0"/>
                <a:ea typeface="+mn-ea"/>
                <a:cs typeface="+mn-cs"/>
              </a:rPr>
              <a:t> Artificial Intelligence and Data Science</a:t>
            </a:r>
            <a:r>
              <a:rPr lang="en-IN" sz="2800" b="1" dirty="0">
                <a:solidFill>
                  <a:srgbClr val="002060"/>
                </a:solidFill>
                <a:latin typeface="Verdana" panose="020B0604030504040204" pitchFamily="34" charset="0"/>
                <a:ea typeface="+mn-ea"/>
                <a:cs typeface="+mn-cs"/>
              </a:rPr>
              <a:t> </a:t>
            </a:r>
          </a:p>
        </p:txBody>
      </p:sp>
      <p:pic>
        <p:nvPicPr>
          <p:cNvPr id="8" name="Picture 1"/>
          <p:cNvPicPr>
            <a:picLocks noChangeAspect="1"/>
          </p:cNvPicPr>
          <p:nvPr/>
        </p:nvPicPr>
        <p:blipFill>
          <a:blip r:embed="rId2"/>
          <a:stretch>
            <a:fillRect/>
          </a:stretch>
        </p:blipFill>
        <p:spPr>
          <a:xfrm>
            <a:off x="151765" y="149225"/>
            <a:ext cx="2769235" cy="1054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Problem Statement and Motivation</a:t>
            </a:r>
            <a:endParaRPr lang="en-IN" sz="2800" dirty="0"/>
          </a:p>
        </p:txBody>
      </p:sp>
      <p:sp>
        <p:nvSpPr>
          <p:cNvPr id="3" name="Content Placeholder 2"/>
          <p:cNvSpPr>
            <a:spLocks noGrp="1"/>
          </p:cNvSpPr>
          <p:nvPr>
            <p:ph idx="1"/>
          </p:nvPr>
        </p:nvSpPr>
        <p:spPr>
          <a:xfrm>
            <a:off x="766233" y="1968759"/>
            <a:ext cx="10668000" cy="4047866"/>
          </a:xfrm>
        </p:spPr>
        <p:txBody>
          <a:bodyPr/>
          <a:lstStyle/>
          <a:p>
            <a:pPr lvl="0">
              <a:buClr>
                <a:srgbClr val="CC0000"/>
              </a:buClr>
              <a:defRPr/>
            </a:pPr>
            <a:r>
              <a:rPr lang="en-US" sz="2000" b="1" dirty="0">
                <a:solidFill>
                  <a:srgbClr val="FF0000"/>
                </a:solidFill>
                <a:latin typeface="Times New Roman" panose="02020603050405020304" pitchFamily="18" charset="0"/>
                <a:cs typeface="Times New Roman" panose="02020603050405020304" pitchFamily="18" charset="0"/>
              </a:rPr>
              <a:t>PROBLEM STATEMENT:</a:t>
            </a:r>
          </a:p>
          <a:p>
            <a:pPr lvl="1" algn="just">
              <a:buClr>
                <a:srgbClr val="CC0000"/>
              </a:buClr>
              <a:defRPr/>
            </a:pPr>
            <a:r>
              <a:rPr lang="en-US" sz="2000" b="1" dirty="0">
                <a:latin typeface="Times New Roman" panose="02020603050405020304" pitchFamily="18" charset="0"/>
                <a:cs typeface="Times New Roman" panose="02020603050405020304" pitchFamily="18" charset="0"/>
              </a:rPr>
              <a:t>Ineffective &amp; Heavy Systems: </a:t>
            </a:r>
            <a:r>
              <a:rPr lang="en-US" sz="2000" dirty="0">
                <a:latin typeface="Times New Roman" panose="02020603050405020304" pitchFamily="18" charset="0"/>
                <a:cs typeface="Times New Roman" panose="02020603050405020304" pitchFamily="18" charset="0"/>
              </a:rPr>
              <a:t>Current tools struggle with growing traffic and new attack methods.</a:t>
            </a:r>
          </a:p>
          <a:p>
            <a:pPr lvl="1" algn="just">
              <a:buClr>
                <a:srgbClr val="CC0000"/>
              </a:buClr>
              <a:defRPr/>
            </a:pPr>
            <a:r>
              <a:rPr lang="en-US" sz="2000" b="1" dirty="0">
                <a:latin typeface="Times New Roman" panose="02020603050405020304" pitchFamily="18" charset="0"/>
                <a:cs typeface="Times New Roman" panose="02020603050405020304" pitchFamily="18" charset="0"/>
              </a:rPr>
              <a:t>Undetected Threats: </a:t>
            </a:r>
            <a:r>
              <a:rPr lang="en-US" sz="2000" dirty="0">
                <a:latin typeface="Times New Roman" panose="02020603050405020304" pitchFamily="18" charset="0"/>
                <a:cs typeface="Times New Roman" panose="02020603050405020304" pitchFamily="18" charset="0"/>
              </a:rPr>
              <a:t>Many threats, especially unknown ones, bypass existing solutions.</a:t>
            </a:r>
          </a:p>
          <a:p>
            <a:pPr lvl="1" algn="just"/>
            <a:r>
              <a:rPr lang="en-US" sz="2000" b="1" dirty="0">
                <a:latin typeface="Times New Roman" panose="02020603050405020304" pitchFamily="18" charset="0"/>
                <a:cs typeface="Times New Roman" panose="02020603050405020304" pitchFamily="18" charset="0"/>
              </a:rPr>
              <a:t>Need for Smart Detection: </a:t>
            </a:r>
            <a:r>
              <a:rPr lang="en-US" sz="2000" dirty="0">
                <a:latin typeface="Times New Roman" panose="02020603050405020304" pitchFamily="18" charset="0"/>
                <a:cs typeface="Times New Roman" panose="02020603050405020304" pitchFamily="18" charset="0"/>
              </a:rPr>
              <a:t>Requires lightweight, real-time monitoring with clear alerts and reports.</a:t>
            </a:r>
          </a:p>
          <a:p>
            <a:pPr lvl="0">
              <a:buClr>
                <a:srgbClr val="CC0000"/>
              </a:buClr>
              <a:defRPr/>
            </a:pPr>
            <a:r>
              <a:rPr kumimoji="0" lang="en-IN" altLang="en-US" sz="20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MOTIVATION</a:t>
            </a:r>
            <a:r>
              <a:rPr kumimoji="0" lang="en-IN" altLang="en-US" sz="2000" b="1"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a:t>
            </a:r>
          </a:p>
          <a:p>
            <a:pPr lvl="1" algn="just">
              <a:buClr>
                <a:srgbClr val="CC0000"/>
              </a:buClr>
              <a:defRPr/>
            </a:pPr>
            <a:r>
              <a:rPr lang="en-US" altLang="en-US" sz="2000" b="1" dirty="0">
                <a:latin typeface="Times New Roman" panose="02020603050405020304" pitchFamily="18" charset="0"/>
                <a:cs typeface="Times New Roman" panose="02020603050405020304" pitchFamily="18" charset="0"/>
              </a:rPr>
              <a:t>Smart &amp; Real-Time Detection: </a:t>
            </a:r>
            <a:r>
              <a:rPr lang="en-US" altLang="en-US" sz="2000" dirty="0">
                <a:latin typeface="Times New Roman" panose="02020603050405020304" pitchFamily="18" charset="0"/>
                <a:cs typeface="Times New Roman" panose="02020603050405020304" pitchFamily="18" charset="0"/>
              </a:rPr>
              <a:t>Monitors network traffic and identifies evolving cyberattacks efficiently.</a:t>
            </a:r>
          </a:p>
          <a:p>
            <a:pPr lvl="1" algn="just">
              <a:buClr>
                <a:srgbClr val="CC0000"/>
              </a:buClr>
              <a:defRPr/>
            </a:pPr>
            <a:r>
              <a:rPr lang="en-US" altLang="en-US" sz="2000" b="1" dirty="0">
                <a:latin typeface="Times New Roman" panose="02020603050405020304" pitchFamily="18" charset="0"/>
                <a:cs typeface="Times New Roman" panose="02020603050405020304" pitchFamily="18" charset="0"/>
              </a:rPr>
              <a:t>Accessible &amp; Practical: </a:t>
            </a:r>
            <a:r>
              <a:rPr lang="en-US" altLang="en-US" sz="2000" dirty="0">
                <a:latin typeface="Times New Roman" panose="02020603050405020304" pitchFamily="18" charset="0"/>
                <a:cs typeface="Times New Roman" panose="02020603050405020304" pitchFamily="18" charset="0"/>
              </a:rPr>
              <a:t>Provides clear alerts without requiring expensive hardware.</a:t>
            </a:r>
            <a:endParaRPr kumimoji="0" lang="en-IN" altLang="en-US" sz="2000" i="0" u="none" strike="noStrike" kern="0" cap="none" spc="0" normalizeH="0" baseline="0" noProof="0" dirty="0">
              <a:ln>
                <a:noFill/>
              </a:ln>
              <a:effectLst/>
              <a:uLnTx/>
              <a:uFillTx/>
              <a:latin typeface="Times New Roman" panose="02020603050405020304" pitchFamily="18" charset="0"/>
              <a:ea typeface="+mn-ea"/>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First Review</a:t>
            </a:r>
            <a:endParaRPr lang="en-IN" dirty="0"/>
          </a:p>
        </p:txBody>
      </p:sp>
      <p:sp>
        <p:nvSpPr>
          <p:cNvPr id="5" name="Footer Placeholder 4"/>
          <p:cNvSpPr>
            <a:spLocks noGrp="1"/>
          </p:cNvSpPr>
          <p:nvPr>
            <p:ph type="ftr" sz="quarter" idx="11"/>
          </p:nvPr>
        </p:nvSpPr>
        <p:spPr/>
        <p:txBody>
          <a:bodyPr/>
          <a:lstStyle/>
          <a:p>
            <a:r>
              <a:rPr lang="en-US" dirty="0">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dirty="0"/>
          </a:p>
          <a:p>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4D7F9-0498-4667-9261-42727A15FBB3}"/>
              </a:ext>
            </a:extLst>
          </p:cNvPr>
          <p:cNvSpPr>
            <a:spLocks noGrp="1"/>
          </p:cNvSpPr>
          <p:nvPr>
            <p:ph type="title"/>
          </p:nvPr>
        </p:nvSpPr>
        <p:spPr/>
        <p:txBody>
          <a:bodyPr/>
          <a:lstStyle/>
          <a:p>
            <a:r>
              <a:rPr lang="en-US" b="1" dirty="0">
                <a:solidFill>
                  <a:srgbClr val="FF0000"/>
                </a:solidFill>
              </a:rPr>
              <a:t>EXISTING SYSTEM</a:t>
            </a:r>
            <a:endParaRPr lang="en-IN" b="1" dirty="0">
              <a:solidFill>
                <a:srgbClr val="FF0000"/>
              </a:solidFill>
            </a:endParaRPr>
          </a:p>
        </p:txBody>
      </p:sp>
      <p:sp>
        <p:nvSpPr>
          <p:cNvPr id="3" name="Content Placeholder 2">
            <a:extLst>
              <a:ext uri="{FF2B5EF4-FFF2-40B4-BE49-F238E27FC236}">
                <a16:creationId xmlns:a16="http://schemas.microsoft.com/office/drawing/2014/main" id="{E96FD1F4-F5EB-E31F-88C2-EB636C262A5E}"/>
              </a:ext>
            </a:extLst>
          </p:cNvPr>
          <p:cNvSpPr>
            <a:spLocks noGrp="1"/>
          </p:cNvSpPr>
          <p:nvPr>
            <p:ph idx="1"/>
          </p:nvPr>
        </p:nvSpPr>
        <p:spPr>
          <a:xfrm>
            <a:off x="755651" y="2052734"/>
            <a:ext cx="10668000" cy="3967065"/>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Signature-based Systems</a:t>
            </a:r>
          </a:p>
          <a:p>
            <a:pPr>
              <a:lnSpc>
                <a:spcPct val="150000"/>
              </a:lnSpc>
            </a:pPr>
            <a:r>
              <a:rPr lang="en-US" sz="2000" dirty="0">
                <a:latin typeface="Times New Roman" panose="02020603050405020304" pitchFamily="18" charset="0"/>
                <a:cs typeface="Times New Roman" panose="02020603050405020304" pitchFamily="18" charset="0"/>
              </a:rPr>
              <a:t>Anomaly-based Systems</a:t>
            </a:r>
          </a:p>
          <a:p>
            <a:pPr>
              <a:lnSpc>
                <a:spcPct val="150000"/>
              </a:lnSpc>
            </a:pPr>
            <a:r>
              <a:rPr lang="en-US" sz="2000" dirty="0">
                <a:latin typeface="Times New Roman" panose="02020603050405020304" pitchFamily="18" charset="0"/>
                <a:cs typeface="Times New Roman" panose="02020603050405020304" pitchFamily="18" charset="0"/>
              </a:rPr>
              <a:t>Hybrid Systems</a:t>
            </a:r>
          </a:p>
          <a:p>
            <a:pPr>
              <a:lnSpc>
                <a:spcPct val="150000"/>
              </a:lnSpc>
            </a:pPr>
            <a:r>
              <a:rPr lang="en-US" sz="2000" dirty="0">
                <a:latin typeface="Times New Roman" panose="02020603050405020304" pitchFamily="18" charset="0"/>
                <a:cs typeface="Times New Roman" panose="02020603050405020304" pitchFamily="18" charset="0"/>
              </a:rPr>
              <a:t>Machine Learning-based Systems</a:t>
            </a:r>
          </a:p>
          <a:p>
            <a:pPr>
              <a:lnSpc>
                <a:spcPct val="150000"/>
              </a:lnSpc>
            </a:pPr>
            <a:r>
              <a:rPr lang="en-US" sz="2000" dirty="0">
                <a:latin typeface="Times New Roman" panose="02020603050405020304" pitchFamily="18" charset="0"/>
                <a:cs typeface="Times New Roman" panose="02020603050405020304" pitchFamily="18" charset="0"/>
              </a:rPr>
              <a:t>Deep Learning-based Systems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05EB422-9541-E4E6-DFF6-8C8E3D54C830}"/>
              </a:ext>
            </a:extLst>
          </p:cNvPr>
          <p:cNvSpPr>
            <a:spLocks noGrp="1"/>
          </p:cNvSpPr>
          <p:nvPr>
            <p:ph type="dt" sz="half" idx="10"/>
          </p:nvPr>
        </p:nvSpPr>
        <p:spPr/>
        <p:txBody>
          <a:bodyPr/>
          <a:lstStyle/>
          <a:p>
            <a:pPr>
              <a:defRPr/>
            </a:pPr>
            <a:r>
              <a:rPr lang="en-US" dirty="0"/>
              <a:t>First Review</a:t>
            </a:r>
          </a:p>
        </p:txBody>
      </p:sp>
      <p:sp>
        <p:nvSpPr>
          <p:cNvPr id="5" name="Footer Placeholder 4">
            <a:extLst>
              <a:ext uri="{FF2B5EF4-FFF2-40B4-BE49-F238E27FC236}">
                <a16:creationId xmlns:a16="http://schemas.microsoft.com/office/drawing/2014/main" id="{57396631-F97F-E1D1-8D42-8D093184A6CF}"/>
              </a:ext>
            </a:extLst>
          </p:cNvPr>
          <p:cNvSpPr>
            <a:spLocks noGrp="1"/>
          </p:cNvSpPr>
          <p:nvPr>
            <p:ph type="ftr" sz="quarter" idx="11"/>
          </p:nvPr>
        </p:nvSpPr>
        <p:spPr/>
        <p:txBody>
          <a:bodyPr/>
          <a:lstStyle/>
          <a:p>
            <a:pPr>
              <a:defRPr/>
            </a:pPr>
            <a:r>
              <a:rPr lang="en-US" dirty="0"/>
              <a:t>Department of</a:t>
            </a:r>
            <a:r>
              <a:rPr lang="en-US" altLang="en-IN" dirty="0">
                <a:latin typeface="Verdana" panose="020B0604030504040204" pitchFamily="34" charset="0"/>
                <a:sym typeface="+mn-ea"/>
              </a:rPr>
              <a:t> Artificial Intelligence and Data Science</a:t>
            </a:r>
            <a:endParaRPr lang="en-US" dirty="0"/>
          </a:p>
        </p:txBody>
      </p:sp>
      <p:sp>
        <p:nvSpPr>
          <p:cNvPr id="6" name="Slide Number Placeholder 5">
            <a:extLst>
              <a:ext uri="{FF2B5EF4-FFF2-40B4-BE49-F238E27FC236}">
                <a16:creationId xmlns:a16="http://schemas.microsoft.com/office/drawing/2014/main" id="{0C9F229E-BD7A-177D-12E8-C8B4E2EB2DF6}"/>
              </a:ext>
            </a:extLst>
          </p:cNvPr>
          <p:cNvSpPr>
            <a:spLocks noGrp="1"/>
          </p:cNvSpPr>
          <p:nvPr>
            <p:ph type="sldNum" sz="quarter" idx="12"/>
          </p:nvPr>
        </p:nvSpPr>
        <p:spPr/>
        <p:txBody>
          <a:bodyPr/>
          <a:lstStyle/>
          <a:p>
            <a:pPr>
              <a:defRPr/>
            </a:pPr>
            <a:fld id="{BDC2143B-610F-499C-A392-DFFBE135A7B2}" type="slidenum">
              <a:rPr lang="en-US" altLang="en-US" smtClean="0"/>
              <a:t>3</a:t>
            </a:fld>
            <a:endParaRPr lang="en-US" altLang="en-US"/>
          </a:p>
        </p:txBody>
      </p:sp>
    </p:spTree>
    <p:extLst>
      <p:ext uri="{BB962C8B-B14F-4D97-AF65-F5344CB8AC3E}">
        <p14:creationId xmlns:p14="http://schemas.microsoft.com/office/powerpoint/2010/main" val="2198368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C758-E922-E686-9286-9DED3C4BBED4}"/>
              </a:ext>
            </a:extLst>
          </p:cNvPr>
          <p:cNvSpPr>
            <a:spLocks noGrp="1"/>
          </p:cNvSpPr>
          <p:nvPr>
            <p:ph type="title"/>
          </p:nvPr>
        </p:nvSpPr>
        <p:spPr/>
        <p:txBody>
          <a:bodyPr/>
          <a:lstStyle/>
          <a:p>
            <a:r>
              <a:rPr lang="en-IN" b="1" dirty="0">
                <a:solidFill>
                  <a:srgbClr val="FF0000"/>
                </a:solidFill>
              </a:rPr>
              <a:t>Objective</a:t>
            </a:r>
          </a:p>
        </p:txBody>
      </p:sp>
      <p:sp>
        <p:nvSpPr>
          <p:cNvPr id="3" name="Content Placeholder 2">
            <a:extLst>
              <a:ext uri="{FF2B5EF4-FFF2-40B4-BE49-F238E27FC236}">
                <a16:creationId xmlns:a16="http://schemas.microsoft.com/office/drawing/2014/main" id="{E5E6165B-1D67-66A1-E6D9-BCF494F9673D}"/>
              </a:ext>
            </a:extLst>
          </p:cNvPr>
          <p:cNvSpPr>
            <a:spLocks noGrp="1"/>
          </p:cNvSpPr>
          <p:nvPr>
            <p:ph idx="1"/>
          </p:nvPr>
        </p:nvSpPr>
        <p:spPr>
          <a:xfrm>
            <a:off x="755651" y="1987420"/>
            <a:ext cx="10668000" cy="4032380"/>
          </a:xfrm>
        </p:spPr>
        <p:txBody>
          <a:bodyPr/>
          <a:lstStyle/>
          <a:p>
            <a:r>
              <a:rPr lang="en-US" sz="2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General Objective:</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Develop a lightweight, real-time, and intelligent Network Intrusion Detection System (NIDS) for accurate detection, automated response, and adaptability.</a:t>
            </a:r>
          </a:p>
          <a:p>
            <a:r>
              <a:rPr lang="en-US" sz="2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Specific Objectives:</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Accurate Real-time Intrusion Detection</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Minimize False Positives </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High Detection Accuracy</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Scalability and Adaptability</a:t>
            </a:r>
          </a:p>
          <a:p>
            <a:pPr lvl="1" algn="just"/>
            <a:r>
              <a:rPr lang="en-US" sz="2000" dirty="0">
                <a:latin typeface="Times New Roman" panose="02020603050405020304" pitchFamily="18" charset="0"/>
                <a:ea typeface="Tahoma" panose="020B0604030504040204" pitchFamily="34" charset="0"/>
                <a:cs typeface="Times New Roman" panose="02020603050405020304" pitchFamily="18" charset="0"/>
              </a:rPr>
              <a:t>Cost-effective Deployment</a:t>
            </a:r>
          </a:p>
        </p:txBody>
      </p:sp>
      <p:sp>
        <p:nvSpPr>
          <p:cNvPr id="4" name="Date Placeholder 3">
            <a:extLst>
              <a:ext uri="{FF2B5EF4-FFF2-40B4-BE49-F238E27FC236}">
                <a16:creationId xmlns:a16="http://schemas.microsoft.com/office/drawing/2014/main" id="{5270F73A-7462-9A25-7D21-AA0F43B1AB26}"/>
              </a:ext>
            </a:extLst>
          </p:cNvPr>
          <p:cNvSpPr>
            <a:spLocks noGrp="1"/>
          </p:cNvSpPr>
          <p:nvPr>
            <p:ph type="dt" sz="half" idx="10"/>
          </p:nvPr>
        </p:nvSpPr>
        <p:spPr/>
        <p:txBody>
          <a:bodyPr/>
          <a:lstStyle/>
          <a:p>
            <a:pPr>
              <a:defRPr/>
            </a:pPr>
            <a:r>
              <a:rPr lang="en-US" dirty="0"/>
              <a:t>First Review</a:t>
            </a:r>
          </a:p>
        </p:txBody>
      </p:sp>
      <p:sp>
        <p:nvSpPr>
          <p:cNvPr id="5" name="Footer Placeholder 4">
            <a:extLst>
              <a:ext uri="{FF2B5EF4-FFF2-40B4-BE49-F238E27FC236}">
                <a16:creationId xmlns:a16="http://schemas.microsoft.com/office/drawing/2014/main" id="{B4A0121A-669A-20A9-7103-E9DBA31BDCA8}"/>
              </a:ext>
            </a:extLst>
          </p:cNvPr>
          <p:cNvSpPr>
            <a:spLocks noGrp="1"/>
          </p:cNvSpPr>
          <p:nvPr>
            <p:ph type="ftr" sz="quarter" idx="11"/>
          </p:nvPr>
        </p:nvSpPr>
        <p:spPr/>
        <p:txBody>
          <a:bodyPr/>
          <a:lstStyle/>
          <a:p>
            <a:pPr>
              <a:defRPr/>
            </a:pPr>
            <a:r>
              <a:rPr lang="en-US" dirty="0"/>
              <a:t>Department of</a:t>
            </a:r>
            <a:r>
              <a:rPr lang="en-US" altLang="en-IN" dirty="0">
                <a:latin typeface="Verdana" panose="020B0604030504040204" pitchFamily="34" charset="0"/>
                <a:sym typeface="+mn-ea"/>
              </a:rPr>
              <a:t> Artificial Intelligence and Data Science</a:t>
            </a:r>
            <a:endParaRPr lang="en-US" dirty="0"/>
          </a:p>
        </p:txBody>
      </p:sp>
      <p:sp>
        <p:nvSpPr>
          <p:cNvPr id="6" name="Slide Number Placeholder 5">
            <a:extLst>
              <a:ext uri="{FF2B5EF4-FFF2-40B4-BE49-F238E27FC236}">
                <a16:creationId xmlns:a16="http://schemas.microsoft.com/office/drawing/2014/main" id="{91007BC2-C7C2-BC18-F132-8DCB79948884}"/>
              </a:ext>
            </a:extLst>
          </p:cNvPr>
          <p:cNvSpPr>
            <a:spLocks noGrp="1"/>
          </p:cNvSpPr>
          <p:nvPr>
            <p:ph type="sldNum" sz="quarter" idx="12"/>
          </p:nvPr>
        </p:nvSpPr>
        <p:spPr/>
        <p:txBody>
          <a:bodyPr/>
          <a:lstStyle/>
          <a:p>
            <a:pPr>
              <a:defRPr/>
            </a:pPr>
            <a:fld id="{BDC2143B-610F-499C-A392-DFFBE135A7B2}" type="slidenum">
              <a:rPr lang="en-US" altLang="en-US" smtClean="0"/>
              <a:t>4</a:t>
            </a:fld>
            <a:endParaRPr lang="en-US" altLang="en-US"/>
          </a:p>
        </p:txBody>
      </p:sp>
    </p:spTree>
    <p:extLst>
      <p:ext uri="{BB962C8B-B14F-4D97-AF65-F5344CB8AC3E}">
        <p14:creationId xmlns:p14="http://schemas.microsoft.com/office/powerpoint/2010/main" val="3186290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041C-2484-5909-EF15-875CF1AF2E6C}"/>
              </a:ext>
            </a:extLst>
          </p:cNvPr>
          <p:cNvSpPr>
            <a:spLocks noGrp="1"/>
          </p:cNvSpPr>
          <p:nvPr>
            <p:ph type="title"/>
          </p:nvPr>
        </p:nvSpPr>
        <p:spPr/>
        <p:txBody>
          <a:bodyPr/>
          <a:lstStyle/>
          <a:p>
            <a:r>
              <a:rPr lang="en-IN" b="1" dirty="0">
                <a:solidFill>
                  <a:srgbClr val="FF0000"/>
                </a:solidFill>
              </a:rPr>
              <a:t>Abstract</a:t>
            </a:r>
          </a:p>
        </p:txBody>
      </p:sp>
      <p:sp>
        <p:nvSpPr>
          <p:cNvPr id="3" name="Content Placeholder 2">
            <a:extLst>
              <a:ext uri="{FF2B5EF4-FFF2-40B4-BE49-F238E27FC236}">
                <a16:creationId xmlns:a16="http://schemas.microsoft.com/office/drawing/2014/main" id="{E4289A9D-A64D-B5D9-62DD-73D3630935D7}"/>
              </a:ext>
            </a:extLst>
          </p:cNvPr>
          <p:cNvSpPr>
            <a:spLocks noGrp="1"/>
          </p:cNvSpPr>
          <p:nvPr>
            <p:ph idx="1"/>
          </p:nvPr>
        </p:nvSpPr>
        <p:spPr>
          <a:xfrm>
            <a:off x="755651" y="2034072"/>
            <a:ext cx="10668000" cy="3985727"/>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Digital transformation in the travel industry has increased the need for accurate and personalized destination recommendations. Traditional methods struggle with limited user data and repetitive suggestions, reducing their effectiveness. A combined approach that uses both user behavior patterns and destination features helps overcome these gaps, ensuring meaningful results even for new users. By leveraging attributes such as climate, activities, and location, the system generates strong initial suggestions. As user interactions grow, preference patterns further refine the accuracy of recommendations. This balance of relevance and novelty encourages users to explore new places while still matching their interests. The approach improves user satisfaction, supports better travel planning decisions, and enhances the overall user experience. Its adaptable design also shows potential for use in other fields such as e-commerce and entertainment, where personalization is essential. Overall, the model contributes to more dynamic, engaging, and intelligent recommendation systems.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09D1490-5053-1569-6D12-56A86C535CED}"/>
              </a:ext>
            </a:extLst>
          </p:cNvPr>
          <p:cNvSpPr>
            <a:spLocks noGrp="1"/>
          </p:cNvSpPr>
          <p:nvPr>
            <p:ph type="dt" sz="half" idx="10"/>
          </p:nvPr>
        </p:nvSpPr>
        <p:spPr/>
        <p:txBody>
          <a:bodyPr/>
          <a:lstStyle/>
          <a:p>
            <a:pPr>
              <a:defRPr/>
            </a:pPr>
            <a:r>
              <a:rPr lang="en-US" dirty="0"/>
              <a:t>First Review</a:t>
            </a:r>
          </a:p>
        </p:txBody>
      </p:sp>
      <p:sp>
        <p:nvSpPr>
          <p:cNvPr id="5" name="Footer Placeholder 4">
            <a:extLst>
              <a:ext uri="{FF2B5EF4-FFF2-40B4-BE49-F238E27FC236}">
                <a16:creationId xmlns:a16="http://schemas.microsoft.com/office/drawing/2014/main" id="{9B9BA9F7-BF89-E54D-E7B0-51B9817B685A}"/>
              </a:ext>
            </a:extLst>
          </p:cNvPr>
          <p:cNvSpPr>
            <a:spLocks noGrp="1"/>
          </p:cNvSpPr>
          <p:nvPr>
            <p:ph type="ftr" sz="quarter" idx="11"/>
          </p:nvPr>
        </p:nvSpPr>
        <p:spPr/>
        <p:txBody>
          <a:bodyPr/>
          <a:lstStyle/>
          <a:p>
            <a:pPr>
              <a:defRPr/>
            </a:pPr>
            <a:r>
              <a:rPr lang="en-US" dirty="0"/>
              <a:t>Department of </a:t>
            </a:r>
            <a:r>
              <a:rPr lang="en-US" altLang="en-IN" dirty="0">
                <a:latin typeface="Verdana" panose="020B0604030504040204" pitchFamily="34" charset="0"/>
                <a:sym typeface="+mn-ea"/>
              </a:rPr>
              <a:t>Artificial Intelligence and Data Science</a:t>
            </a:r>
            <a:endParaRPr lang="en-US" dirty="0"/>
          </a:p>
        </p:txBody>
      </p:sp>
      <p:sp>
        <p:nvSpPr>
          <p:cNvPr id="6" name="Slide Number Placeholder 5">
            <a:extLst>
              <a:ext uri="{FF2B5EF4-FFF2-40B4-BE49-F238E27FC236}">
                <a16:creationId xmlns:a16="http://schemas.microsoft.com/office/drawing/2014/main" id="{ED583C5A-C9D8-E086-7546-7DF8BDE56A18}"/>
              </a:ext>
            </a:extLst>
          </p:cNvPr>
          <p:cNvSpPr>
            <a:spLocks noGrp="1"/>
          </p:cNvSpPr>
          <p:nvPr>
            <p:ph type="sldNum" sz="quarter" idx="12"/>
          </p:nvPr>
        </p:nvSpPr>
        <p:spPr/>
        <p:txBody>
          <a:bodyPr/>
          <a:lstStyle/>
          <a:p>
            <a:pPr>
              <a:defRPr/>
            </a:pPr>
            <a:fld id="{BDC2143B-610F-499C-A392-DFFBE135A7B2}" type="slidenum">
              <a:rPr lang="en-US" altLang="en-US" smtClean="0"/>
              <a:t>5</a:t>
            </a:fld>
            <a:endParaRPr lang="en-US" altLang="en-US"/>
          </a:p>
        </p:txBody>
      </p:sp>
    </p:spTree>
    <p:extLst>
      <p:ext uri="{BB962C8B-B14F-4D97-AF65-F5344CB8AC3E}">
        <p14:creationId xmlns:p14="http://schemas.microsoft.com/office/powerpoint/2010/main" val="424855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a:t>
            </a:r>
            <a:r>
              <a:rPr lang="en-US" altLang="en-IN" sz="3200" b="1" dirty="0">
                <a:solidFill>
                  <a:srgbClr val="FF0000"/>
                </a:solidFill>
              </a:rPr>
              <a:t>rchitecture(framework)</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pic>
        <p:nvPicPr>
          <p:cNvPr id="7" name="Picture 6">
            <a:extLst>
              <a:ext uri="{FF2B5EF4-FFF2-40B4-BE49-F238E27FC236}">
                <a16:creationId xmlns:a16="http://schemas.microsoft.com/office/drawing/2014/main" id="{84D7D601-221F-63AF-B69C-AC7F0783C2E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76873" y="1827711"/>
            <a:ext cx="7836550" cy="4116978"/>
          </a:xfrm>
          <a:prstGeom prst="rect">
            <a:avLst/>
          </a:prstGeom>
          <a:noFill/>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C33B-A71A-C09A-BB58-4A0E6D2C8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A1DAC-65B0-BA41-D3C4-24E1B7BEF232}"/>
              </a:ext>
            </a:extLst>
          </p:cNvPr>
          <p:cNvSpPr>
            <a:spLocks noGrp="1"/>
          </p:cNvSpPr>
          <p:nvPr>
            <p:ph type="title"/>
          </p:nvPr>
        </p:nvSpPr>
        <p:spPr/>
        <p:txBody>
          <a:bodyPr/>
          <a:lstStyle/>
          <a:p>
            <a:r>
              <a:rPr lang="en-IN" b="1" dirty="0">
                <a:solidFill>
                  <a:srgbClr val="FF0000"/>
                </a:solidFill>
              </a:rPr>
              <a:t>MODULE</a:t>
            </a:r>
          </a:p>
        </p:txBody>
      </p:sp>
      <p:sp>
        <p:nvSpPr>
          <p:cNvPr id="3" name="Content Placeholder 2">
            <a:extLst>
              <a:ext uri="{FF2B5EF4-FFF2-40B4-BE49-F238E27FC236}">
                <a16:creationId xmlns:a16="http://schemas.microsoft.com/office/drawing/2014/main" id="{D5C671D3-C073-299D-1D74-D0C9F552A8F0}"/>
              </a:ext>
            </a:extLst>
          </p:cNvPr>
          <p:cNvSpPr>
            <a:spLocks noGrp="1"/>
          </p:cNvSpPr>
          <p:nvPr>
            <p:ph idx="1"/>
          </p:nvPr>
        </p:nvSpPr>
        <p:spPr>
          <a:xfrm>
            <a:off x="755651" y="2519264"/>
            <a:ext cx="10668000" cy="3500535"/>
          </a:xfrm>
        </p:spPr>
        <p:txBody>
          <a:bodyPr/>
          <a:lstStyle/>
          <a:p>
            <a:pPr algn="just"/>
            <a:r>
              <a:rPr lang="en-IN" sz="2000" dirty="0">
                <a:latin typeface="Times New Roman" panose="02020603050405020304" pitchFamily="18" charset="0"/>
                <a:cs typeface="Times New Roman" panose="02020603050405020304" pitchFamily="18" charset="0"/>
              </a:rPr>
              <a:t>Data Collections and Data Preprocessing.</a:t>
            </a:r>
          </a:p>
          <a:p>
            <a:pPr algn="just"/>
            <a:r>
              <a:rPr lang="en-IN" sz="2000" dirty="0">
                <a:latin typeface="Times New Roman" panose="02020603050405020304" pitchFamily="18" charset="0"/>
                <a:cs typeface="Times New Roman" panose="02020603050405020304" pitchFamily="18" charset="0"/>
              </a:rPr>
              <a:t>Kafka and T-shark.</a:t>
            </a:r>
          </a:p>
          <a:p>
            <a:pPr algn="just"/>
            <a:r>
              <a:rPr lang="en-IN" sz="2000" dirty="0">
                <a:latin typeface="Times New Roman" panose="02020603050405020304" pitchFamily="18" charset="0"/>
                <a:cs typeface="Times New Roman" panose="02020603050405020304" pitchFamily="18" charset="0"/>
              </a:rPr>
              <a:t>Dynamic Fusion of Graphs.</a:t>
            </a:r>
          </a:p>
          <a:p>
            <a:pPr algn="just"/>
            <a:r>
              <a:rPr lang="en-IN" sz="2000" dirty="0">
                <a:latin typeface="Times New Roman" panose="02020603050405020304" pitchFamily="18" charset="0"/>
                <a:cs typeface="Times New Roman" panose="02020603050405020304" pitchFamily="18" charset="0"/>
              </a:rPr>
              <a:t>LLM Integration.</a:t>
            </a:r>
          </a:p>
          <a:p>
            <a:pPr algn="just"/>
            <a:r>
              <a:rPr lang="en-IN" sz="2000" dirty="0">
                <a:latin typeface="Times New Roman" panose="02020603050405020304" pitchFamily="18" charset="0"/>
                <a:cs typeface="Times New Roman" panose="02020603050405020304" pitchFamily="18" charset="0"/>
              </a:rPr>
              <a:t>Web Interface.</a:t>
            </a:r>
          </a:p>
        </p:txBody>
      </p:sp>
      <p:sp>
        <p:nvSpPr>
          <p:cNvPr id="4" name="Date Placeholder 3">
            <a:extLst>
              <a:ext uri="{FF2B5EF4-FFF2-40B4-BE49-F238E27FC236}">
                <a16:creationId xmlns:a16="http://schemas.microsoft.com/office/drawing/2014/main" id="{07FFFD77-D3E6-F34D-D4D0-BAE37493DB5A}"/>
              </a:ext>
            </a:extLst>
          </p:cNvPr>
          <p:cNvSpPr>
            <a:spLocks noGrp="1"/>
          </p:cNvSpPr>
          <p:nvPr>
            <p:ph type="dt" sz="half" idx="10"/>
          </p:nvPr>
        </p:nvSpPr>
        <p:spPr/>
        <p:txBody>
          <a:bodyPr/>
          <a:lstStyle/>
          <a:p>
            <a:pPr>
              <a:defRPr/>
            </a:pPr>
            <a:r>
              <a:rPr lang="en-US" dirty="0"/>
              <a:t>First Review</a:t>
            </a:r>
          </a:p>
        </p:txBody>
      </p:sp>
      <p:sp>
        <p:nvSpPr>
          <p:cNvPr id="5" name="Footer Placeholder 4">
            <a:extLst>
              <a:ext uri="{FF2B5EF4-FFF2-40B4-BE49-F238E27FC236}">
                <a16:creationId xmlns:a16="http://schemas.microsoft.com/office/drawing/2014/main" id="{1A15A500-7C0F-3055-305A-CC0FAC68F91B}"/>
              </a:ext>
            </a:extLst>
          </p:cNvPr>
          <p:cNvSpPr>
            <a:spLocks noGrp="1"/>
          </p:cNvSpPr>
          <p:nvPr>
            <p:ph type="ftr" sz="quarter" idx="11"/>
          </p:nvPr>
        </p:nvSpPr>
        <p:spPr/>
        <p:txBody>
          <a:bodyPr/>
          <a:lstStyle/>
          <a:p>
            <a:pPr>
              <a:defRPr/>
            </a:pPr>
            <a:r>
              <a:rPr lang="en-US" dirty="0"/>
              <a:t>Department of</a:t>
            </a:r>
            <a:r>
              <a:rPr lang="en-US" altLang="en-IN" dirty="0">
                <a:latin typeface="Verdana" panose="020B0604030504040204" pitchFamily="34" charset="0"/>
                <a:sym typeface="+mn-ea"/>
              </a:rPr>
              <a:t> Artificial Intelligence and Data Science</a:t>
            </a:r>
            <a:endParaRPr lang="en-US" dirty="0"/>
          </a:p>
        </p:txBody>
      </p:sp>
      <p:sp>
        <p:nvSpPr>
          <p:cNvPr id="6" name="Slide Number Placeholder 5">
            <a:extLst>
              <a:ext uri="{FF2B5EF4-FFF2-40B4-BE49-F238E27FC236}">
                <a16:creationId xmlns:a16="http://schemas.microsoft.com/office/drawing/2014/main" id="{B77EC5EF-F257-1D31-9F87-68A4E4645C8E}"/>
              </a:ext>
            </a:extLst>
          </p:cNvPr>
          <p:cNvSpPr>
            <a:spLocks noGrp="1"/>
          </p:cNvSpPr>
          <p:nvPr>
            <p:ph type="sldNum" sz="quarter" idx="12"/>
          </p:nvPr>
        </p:nvSpPr>
        <p:spPr/>
        <p:txBody>
          <a:bodyPr/>
          <a:lstStyle/>
          <a:p>
            <a:pPr>
              <a:defRPr/>
            </a:pPr>
            <a:fld id="{BDC2143B-610F-499C-A392-DFFBE135A7B2}" type="slidenum">
              <a:rPr lang="en-US" altLang="en-US" smtClean="0"/>
              <a:t>7</a:t>
            </a:fld>
            <a:endParaRPr lang="en-US" altLang="en-US"/>
          </a:p>
        </p:txBody>
      </p:sp>
    </p:spTree>
    <p:extLst>
      <p:ext uri="{BB962C8B-B14F-4D97-AF65-F5344CB8AC3E}">
        <p14:creationId xmlns:p14="http://schemas.microsoft.com/office/powerpoint/2010/main" val="3420416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Conclusion</a:t>
            </a:r>
          </a:p>
        </p:txBody>
      </p:sp>
      <p:sp>
        <p:nvSpPr>
          <p:cNvPr id="3" name="Content Placeholder 2"/>
          <p:cNvSpPr>
            <a:spLocks noGrp="1"/>
          </p:cNvSpPr>
          <p:nvPr>
            <p:ph idx="1"/>
          </p:nvPr>
        </p:nvSpPr>
        <p:spPr>
          <a:xfrm>
            <a:off x="1520890" y="2444620"/>
            <a:ext cx="8537510" cy="3733800"/>
          </a:xfrm>
        </p:spPr>
        <p:txBody>
          <a:bodyPr/>
          <a:lstStyle/>
          <a:p>
            <a:pPr marL="0" lvl="0" indent="0" algn="just">
              <a:buClr>
                <a:srgbClr val="CC0000"/>
              </a:buClr>
              <a:buNone/>
              <a:defRPr/>
            </a:pPr>
            <a:r>
              <a:rPr lang="en-US" altLang="en-US" sz="2000" dirty="0">
                <a:solidFill>
                  <a:srgbClr val="000000"/>
                </a:solidFill>
                <a:latin typeface="Times New Roman" panose="02020603050405020304" pitchFamily="18" charset="0"/>
                <a:cs typeface="Times New Roman" panose="02020603050405020304" pitchFamily="18" charset="0"/>
              </a:rPr>
              <a:t>AI-powered framework for real-time network intrusion detection, integrating Kafka with GAN, TGN, and GRU models. Detects known and emerging threats with high accuracy and provides explainable results. Real-time dashboard enables proactive decision-making and improved security awareness. Enhances scalability, latency, and threat detection in modern networks.</a:t>
            </a: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9</a:t>
            </a:fld>
            <a:endParaRPr lang="en-US" altLang="en-US" dirty="0"/>
          </a:p>
        </p:txBody>
      </p:sp>
      <p:sp>
        <p:nvSpPr>
          <p:cNvPr id="5" name="Date Placeholder 4"/>
          <p:cNvSpPr>
            <a:spLocks noGrp="1"/>
          </p:cNvSpPr>
          <p:nvPr>
            <p:ph type="dt" sz="half" idx="10"/>
          </p:nvPr>
        </p:nvSpPr>
        <p:spPr/>
        <p:txBody>
          <a:bodyPr/>
          <a:lstStyle/>
          <a:p>
            <a:pPr>
              <a:defRPr/>
            </a:pPr>
            <a:r>
              <a:rPr lang="en-US" altLang="en-IN">
                <a:sym typeface="+mn-ea"/>
              </a:rPr>
              <a:t>End Sem</a:t>
            </a:r>
            <a:endParaRPr lang="en-US" altLang="en-IN"/>
          </a:p>
          <a:p>
            <a:pPr>
              <a:defRPr/>
            </a:pPr>
            <a:endParaRPr lang="en-US"/>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25</TotalTime>
  <Words>516</Words>
  <Application>Microsoft Office PowerPoint</Application>
  <PresentationFormat>Widescreen</PresentationFormat>
  <Paragraphs>68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Times New Roman</vt:lpstr>
      <vt:lpstr>Verdana</vt:lpstr>
      <vt:lpstr>Wingdings</vt:lpstr>
      <vt:lpstr>Profile</vt:lpstr>
      <vt:lpstr>PowerPoint Presentation</vt:lpstr>
      <vt:lpstr>Problem Statement and Motivation</vt:lpstr>
      <vt:lpstr>EXISTING SYSTEM</vt:lpstr>
      <vt:lpstr>Objective</vt:lpstr>
      <vt:lpstr>Abstract</vt:lpstr>
      <vt:lpstr>Architecture(framework)</vt:lpstr>
      <vt:lpstr>MODULE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lavanyasenthil004@gmail.com</cp:lastModifiedBy>
  <cp:revision>10</cp:revision>
  <dcterms:created xsi:type="dcterms:W3CDTF">2025-11-22T14:54:41Z</dcterms:created>
  <dcterms:modified xsi:type="dcterms:W3CDTF">2025-11-26T14:43:10Z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